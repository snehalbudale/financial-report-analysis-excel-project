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5" r:id="rId4"/>
    <p:sldId id="276" r:id="rId5"/>
    <p:sldId id="277" r:id="rId6"/>
    <p:sldId id="278" r:id="rId7"/>
  </p:sldIdLst>
  <p:sldSz cx="18288000" cy="10287000"/>
  <p:notesSz cx="6858000" cy="9144000"/>
  <p:embeddedFontLst>
    <p:embeddedFont>
      <p:font typeface="League Spartan" panose="020B0604020202020204" charset="0"/>
      <p:regular r:id="rId8"/>
    </p:embeddedFont>
    <p:embeddedFont>
      <p:font typeface="Poppins" panose="00000500000000000000" pitchFamily="2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3C8F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48322" y="2324100"/>
            <a:ext cx="11439278" cy="1556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343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593C8F"/>
                </a:solidFill>
              </a:rPr>
              <a:t>Finance Summary Dashboard</a:t>
            </a:r>
            <a:endParaRPr lang="en-US" sz="7200" b="1" dirty="0">
              <a:solidFill>
                <a:srgbClr val="593C8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AutoShape 8"/>
          <p:cNvSpPr/>
          <p:nvPr/>
        </p:nvSpPr>
        <p:spPr>
          <a:xfrm flipV="1">
            <a:off x="3648322" y="4061120"/>
            <a:ext cx="11058278" cy="205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652333" y="4513480"/>
            <a:ext cx="11054267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/>
              <a:t>Name: </a:t>
            </a:r>
            <a:r>
              <a:rPr lang="en-US" altLang="en-US" sz="2800" dirty="0"/>
              <a:t>Snehal Budale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/>
              <a:t>Tool: </a:t>
            </a:r>
            <a:r>
              <a:rPr lang="en-US" altLang="en-US" sz="2800" dirty="0"/>
              <a:t>Microsoft Excel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/>
              <a:t>Objective: </a:t>
            </a:r>
            <a:r>
              <a:rPr lang="en-US" sz="2800" dirty="0"/>
              <a:t>This project focuses on analyzing organizational financial performance using an interactive Excel dashboard. The dashboard provides a consolidated view of revenue, expenses, and profitability trends to support data-driven financial planning and decision-making.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02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27"/>
            <a:ext cx="18288000" cy="201495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114800" y="615071"/>
            <a:ext cx="100584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8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EFEFEF"/>
                </a:solidFill>
              </a:rPr>
              <a:t>Project Objective &amp; Business Need</a:t>
            </a:r>
            <a:endParaRPr lang="en-US" sz="4800" b="1" dirty="0">
              <a:solidFill>
                <a:srgbClr val="EFEFE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AutoShape 14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2037823" y="4751337"/>
            <a:ext cx="6496577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Organizations require clear financial visibility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Track revenue and expenses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Monitor profitability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Identify high-cost areas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Support strategic and budgeting decisions</a:t>
            </a:r>
          </a:p>
        </p:txBody>
      </p:sp>
      <p:sp>
        <p:nvSpPr>
          <p:cNvPr id="16" name="AutoShape 16"/>
          <p:cNvSpPr/>
          <p:nvPr/>
        </p:nvSpPr>
        <p:spPr>
          <a:xfrm>
            <a:off x="2037823" y="4457700"/>
            <a:ext cx="400155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Box 17"/>
          <p:cNvSpPr txBox="1"/>
          <p:nvPr/>
        </p:nvSpPr>
        <p:spPr>
          <a:xfrm>
            <a:off x="10744200" y="3509028"/>
            <a:ext cx="476951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593C8F"/>
                </a:solidFill>
              </a:rPr>
              <a:t>Project Objective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37823" y="3751978"/>
            <a:ext cx="4769516" cy="37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48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593C8F"/>
                </a:solidFill>
              </a:rPr>
              <a:t>Business Need</a:t>
            </a:r>
            <a:endParaRPr lang="en-US" sz="4000" b="1" dirty="0">
              <a:solidFill>
                <a:srgbClr val="593C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60EC793A-730F-5536-221F-2A97F364FAE5}"/>
              </a:ext>
            </a:extLst>
          </p:cNvPr>
          <p:cNvSpPr txBox="1"/>
          <p:nvPr/>
        </p:nvSpPr>
        <p:spPr>
          <a:xfrm>
            <a:off x="10744200" y="4685302"/>
            <a:ext cx="6496577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Build an interactive dashboard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Provide category-wise and department-wise financial insights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Enable time-based performance analysis</a:t>
            </a:r>
          </a:p>
        </p:txBody>
      </p:sp>
      <p:sp>
        <p:nvSpPr>
          <p:cNvPr id="24" name="AutoShape 16">
            <a:extLst>
              <a:ext uri="{FF2B5EF4-FFF2-40B4-BE49-F238E27FC236}">
                <a16:creationId xmlns:a16="http://schemas.microsoft.com/office/drawing/2014/main" id="{5F1E19EB-CE58-1C99-CD46-3936F5F7F3FD}"/>
              </a:ext>
            </a:extLst>
          </p:cNvPr>
          <p:cNvSpPr/>
          <p:nvPr/>
        </p:nvSpPr>
        <p:spPr>
          <a:xfrm>
            <a:off x="10744200" y="4381500"/>
            <a:ext cx="400155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D9E27-E36A-2306-C930-9CF17B37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0780DB-6386-DBD3-0176-4E4D44B20E22}"/>
              </a:ext>
            </a:extLst>
          </p:cNvPr>
          <p:cNvSpPr/>
          <p:nvPr/>
        </p:nvSpPr>
        <p:spPr>
          <a:xfrm>
            <a:off x="0" y="1002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8F47061-26ED-0650-6E86-5B71CA93EFB2}"/>
              </a:ext>
            </a:extLst>
          </p:cNvPr>
          <p:cNvGrpSpPr/>
          <p:nvPr/>
        </p:nvGrpSpPr>
        <p:grpSpPr>
          <a:xfrm>
            <a:off x="0" y="10027"/>
            <a:ext cx="18288000" cy="201495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4D71E1-8071-CA23-B91E-71B7C173257F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3E1AA7-A58F-83CD-7FA0-638410326C37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53FA295A-6573-29D5-BC7C-F46E1D2339A7}"/>
              </a:ext>
            </a:extLst>
          </p:cNvPr>
          <p:cNvSpPr txBox="1"/>
          <p:nvPr/>
        </p:nvSpPr>
        <p:spPr>
          <a:xfrm>
            <a:off x="4114800" y="615071"/>
            <a:ext cx="100584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8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EFEFEF"/>
                </a:solidFill>
              </a:rPr>
              <a:t>Dashboard Overview</a:t>
            </a:r>
            <a:endParaRPr lang="en-US" sz="4800" b="1" dirty="0">
              <a:solidFill>
                <a:srgbClr val="EFEFE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62900742-C603-B9EE-679B-4A9B125EDDF8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2CF3919-55C5-9683-5371-51939DD07818}"/>
              </a:ext>
            </a:extLst>
          </p:cNvPr>
          <p:cNvSpPr txBox="1"/>
          <p:nvPr/>
        </p:nvSpPr>
        <p:spPr>
          <a:xfrm>
            <a:off x="1181099" y="4517642"/>
            <a:ext cx="4972577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KPI Cards: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Total Revenue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Total Expense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Net Profit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Maximum Revenue &amp; Expense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DF86191B-1B53-26CC-F92A-8A3A7EE51095}"/>
              </a:ext>
            </a:extLst>
          </p:cNvPr>
          <p:cNvSpPr/>
          <p:nvPr/>
        </p:nvSpPr>
        <p:spPr>
          <a:xfrm flipH="1">
            <a:off x="990599" y="4356100"/>
            <a:ext cx="1" cy="20503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F8DA65E-7882-D48F-6031-7FB1099259A5}"/>
              </a:ext>
            </a:extLst>
          </p:cNvPr>
          <p:cNvSpPr txBox="1"/>
          <p:nvPr/>
        </p:nvSpPr>
        <p:spPr>
          <a:xfrm>
            <a:off x="7546572" y="3440014"/>
            <a:ext cx="476951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593C8F"/>
                </a:solidFill>
              </a:rPr>
              <a:t>Interactive Filters</a:t>
            </a:r>
            <a:endParaRPr lang="en-US" sz="4000" dirty="0">
              <a:solidFill>
                <a:srgbClr val="593C8F"/>
              </a:solidFill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375F3DA-F249-84E9-9694-008958A46BEE}"/>
              </a:ext>
            </a:extLst>
          </p:cNvPr>
          <p:cNvSpPr txBox="1"/>
          <p:nvPr/>
        </p:nvSpPr>
        <p:spPr>
          <a:xfrm>
            <a:off x="990600" y="3693417"/>
            <a:ext cx="5353577" cy="36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48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593C8F"/>
                </a:solidFill>
              </a:rPr>
              <a:t>Dashboard Components</a:t>
            </a:r>
            <a:endParaRPr lang="en-US" sz="4000" b="1" dirty="0">
              <a:solidFill>
                <a:srgbClr val="593C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B3FD2DF7-3936-0228-9834-DBD2342C69D2}"/>
              </a:ext>
            </a:extLst>
          </p:cNvPr>
          <p:cNvSpPr txBox="1"/>
          <p:nvPr/>
        </p:nvSpPr>
        <p:spPr>
          <a:xfrm>
            <a:off x="7696200" y="4414863"/>
            <a:ext cx="402112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Year and Month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Quarter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Department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Payment Method</a:t>
            </a:r>
          </a:p>
        </p:txBody>
      </p:sp>
      <p:sp>
        <p:nvSpPr>
          <p:cNvPr id="24" name="AutoShape 16">
            <a:extLst>
              <a:ext uri="{FF2B5EF4-FFF2-40B4-BE49-F238E27FC236}">
                <a16:creationId xmlns:a16="http://schemas.microsoft.com/office/drawing/2014/main" id="{29B8A303-8215-22FA-E601-E0CF847AEC04}"/>
              </a:ext>
            </a:extLst>
          </p:cNvPr>
          <p:cNvSpPr/>
          <p:nvPr/>
        </p:nvSpPr>
        <p:spPr>
          <a:xfrm flipH="1">
            <a:off x="7546571" y="4356099"/>
            <a:ext cx="2" cy="18466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9BE0E56F-A30B-1E4E-A752-C14C9F4BC0CA}"/>
              </a:ext>
            </a:extLst>
          </p:cNvPr>
          <p:cNvSpPr txBox="1"/>
          <p:nvPr/>
        </p:nvSpPr>
        <p:spPr>
          <a:xfrm>
            <a:off x="12696947" y="4414863"/>
            <a:ext cx="525779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Revenue vs Expense by Department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Monthly Profit Trend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Revenue by Category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Expense by Category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C45E8B78-529B-A8B9-C7A7-D0C820211F34}"/>
              </a:ext>
            </a:extLst>
          </p:cNvPr>
          <p:cNvSpPr txBox="1"/>
          <p:nvPr/>
        </p:nvSpPr>
        <p:spPr>
          <a:xfrm>
            <a:off x="12801600" y="3400214"/>
            <a:ext cx="476951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593C8F"/>
                </a:solidFill>
              </a:rPr>
              <a:t>Visualizations</a:t>
            </a:r>
            <a:endParaRPr lang="en-US" sz="4000" dirty="0">
              <a:solidFill>
                <a:srgbClr val="593C8F"/>
              </a:solidFill>
            </a:endParaRPr>
          </a:p>
        </p:txBody>
      </p:sp>
      <p:sp>
        <p:nvSpPr>
          <p:cNvPr id="9" name="AutoShape 16">
            <a:extLst>
              <a:ext uri="{FF2B5EF4-FFF2-40B4-BE49-F238E27FC236}">
                <a16:creationId xmlns:a16="http://schemas.microsoft.com/office/drawing/2014/main" id="{03676FC0-B336-4E38-49CA-60E9BAEF3A4B}"/>
              </a:ext>
            </a:extLst>
          </p:cNvPr>
          <p:cNvSpPr/>
          <p:nvPr/>
        </p:nvSpPr>
        <p:spPr>
          <a:xfrm>
            <a:off x="12496801" y="4356098"/>
            <a:ext cx="0" cy="18466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735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1D0E0-75FF-2BC0-4733-E24EA748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7C1944-A940-150C-9DDB-9ABE4C589490}"/>
              </a:ext>
            </a:extLst>
          </p:cNvPr>
          <p:cNvSpPr/>
          <p:nvPr/>
        </p:nvSpPr>
        <p:spPr>
          <a:xfrm>
            <a:off x="38100" y="1002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CB9019F-4214-89DD-4E3D-000C5259C578}"/>
              </a:ext>
            </a:extLst>
          </p:cNvPr>
          <p:cNvGrpSpPr/>
          <p:nvPr/>
        </p:nvGrpSpPr>
        <p:grpSpPr>
          <a:xfrm>
            <a:off x="0" y="10027"/>
            <a:ext cx="18288000" cy="201495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B8C0B1-703D-5F87-DDFC-90BF1EA08959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63CA71-DE21-E6FE-0B33-D96E32DC0693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DCE6DB95-59D7-79D0-2016-7F9EDAFDD40B}"/>
              </a:ext>
            </a:extLst>
          </p:cNvPr>
          <p:cNvSpPr txBox="1"/>
          <p:nvPr/>
        </p:nvSpPr>
        <p:spPr>
          <a:xfrm>
            <a:off x="4114800" y="615071"/>
            <a:ext cx="10058400" cy="739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8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Overall Financial Performance</a:t>
            </a:r>
            <a:endParaRPr lang="en-US" sz="4800" b="1" dirty="0">
              <a:solidFill>
                <a:schemeClr val="bg1"/>
              </a:solidFill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977C29AC-5653-23F3-D92D-00E96B2F9C9C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0134D83-217B-A1A6-CA55-E9B508A9EF7F}"/>
              </a:ext>
            </a:extLst>
          </p:cNvPr>
          <p:cNvSpPr txBox="1"/>
          <p:nvPr/>
        </p:nvSpPr>
        <p:spPr>
          <a:xfrm>
            <a:off x="2001728" y="4123949"/>
            <a:ext cx="6496577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Total Revenue: </a:t>
            </a:r>
            <a:r>
              <a:rPr lang="en-US" altLang="en-US" sz="2400" b="1" dirty="0"/>
              <a:t>3,097,025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Total Expense: </a:t>
            </a:r>
            <a:r>
              <a:rPr lang="en-US" altLang="en-US" sz="2400" b="1" dirty="0"/>
              <a:t>1,585,247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Net Profit: </a:t>
            </a:r>
            <a:r>
              <a:rPr lang="en-US" altLang="en-US" sz="2400" b="1" dirty="0"/>
              <a:t>1,511,778</a:t>
            </a:r>
            <a:endParaRPr lang="en-US" altLang="en-US" sz="2400" dirty="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339C482-4EE7-E33E-6DF5-7136963FCF14}"/>
              </a:ext>
            </a:extLst>
          </p:cNvPr>
          <p:cNvSpPr/>
          <p:nvPr/>
        </p:nvSpPr>
        <p:spPr>
          <a:xfrm>
            <a:off x="2001728" y="3924299"/>
            <a:ext cx="4551472" cy="1297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0C40C3B-7824-8C6F-B1E4-59E5C4DEB30F}"/>
              </a:ext>
            </a:extLst>
          </p:cNvPr>
          <p:cNvSpPr txBox="1"/>
          <p:nvPr/>
        </p:nvSpPr>
        <p:spPr>
          <a:xfrm>
            <a:off x="2001728" y="5789075"/>
            <a:ext cx="476951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593C8F"/>
                </a:solidFill>
              </a:rPr>
              <a:t>Performance Analysis</a:t>
            </a:r>
            <a:endParaRPr lang="en-US" sz="4000" dirty="0">
              <a:solidFill>
                <a:srgbClr val="593C8F"/>
              </a:solidFill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D1DED37-FC96-2473-DF18-A2343B1EBBD1}"/>
              </a:ext>
            </a:extLst>
          </p:cNvPr>
          <p:cNvSpPr txBox="1"/>
          <p:nvPr/>
        </p:nvSpPr>
        <p:spPr>
          <a:xfrm>
            <a:off x="2001728" y="3327953"/>
            <a:ext cx="4769516" cy="36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48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593C8F"/>
                </a:solidFill>
              </a:rPr>
              <a:t>Key Metrics</a:t>
            </a:r>
            <a:endParaRPr lang="en-US" sz="4000" b="1" dirty="0">
              <a:solidFill>
                <a:srgbClr val="593C8F"/>
              </a:solidFill>
              <a:ea typeface="Poppins"/>
              <a:cs typeface="Poppins"/>
              <a:sym typeface="Poppins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461437CD-CC9C-8EF1-D95A-E813DFBE5AB8}"/>
              </a:ext>
            </a:extLst>
          </p:cNvPr>
          <p:cNvSpPr txBox="1"/>
          <p:nvPr/>
        </p:nvSpPr>
        <p:spPr>
          <a:xfrm>
            <a:off x="2001727" y="6831129"/>
            <a:ext cx="13314473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Revenue is nearly double the total expense, indicating strong financial health.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Maximum Revenue recorded in a single period: </a:t>
            </a:r>
            <a:r>
              <a:rPr lang="en-US" altLang="en-US" sz="2400" b="1" dirty="0"/>
              <a:t>277,214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Maximum Expense recorded: </a:t>
            </a:r>
            <a:r>
              <a:rPr lang="en-US" altLang="en-US" sz="2400" b="1" dirty="0"/>
              <a:t>153,258</a:t>
            </a:r>
            <a:endParaRPr lang="en-US" altLang="en-US" sz="2400" dirty="0"/>
          </a:p>
        </p:txBody>
      </p:sp>
      <p:sp>
        <p:nvSpPr>
          <p:cNvPr id="24" name="AutoShape 16">
            <a:extLst>
              <a:ext uri="{FF2B5EF4-FFF2-40B4-BE49-F238E27FC236}">
                <a16:creationId xmlns:a16="http://schemas.microsoft.com/office/drawing/2014/main" id="{4A280247-42B4-39A5-5BA6-D28304B637E2}"/>
              </a:ext>
            </a:extLst>
          </p:cNvPr>
          <p:cNvSpPr/>
          <p:nvPr/>
        </p:nvSpPr>
        <p:spPr>
          <a:xfrm>
            <a:off x="2001728" y="6591300"/>
            <a:ext cx="45514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837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79C70-1CE6-E3C7-59F5-17C4A006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7706D1-19F0-262A-6C28-F450B3F6C9BB}"/>
              </a:ext>
            </a:extLst>
          </p:cNvPr>
          <p:cNvSpPr/>
          <p:nvPr/>
        </p:nvSpPr>
        <p:spPr>
          <a:xfrm>
            <a:off x="0" y="1002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BB3C6B0-FB0E-3EF1-B121-BE10A3FD5D39}"/>
              </a:ext>
            </a:extLst>
          </p:cNvPr>
          <p:cNvGrpSpPr/>
          <p:nvPr/>
        </p:nvGrpSpPr>
        <p:grpSpPr>
          <a:xfrm>
            <a:off x="0" y="10027"/>
            <a:ext cx="18288000" cy="201495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CF6679B-EE21-2793-92AA-3030E47D02AF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D778B0-5B1F-4D9C-C87F-6643BFF296FD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1B9C2AF9-3B0F-4AB4-8DCC-114599DF2D52}"/>
              </a:ext>
            </a:extLst>
          </p:cNvPr>
          <p:cNvSpPr txBox="1"/>
          <p:nvPr/>
        </p:nvSpPr>
        <p:spPr>
          <a:xfrm>
            <a:off x="4114800" y="615071"/>
            <a:ext cx="10058400" cy="739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Revenue &amp; Expense Analysis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2CC1FDF-EED7-C36F-D87B-2ADFBFA65FAE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45B8B3E-97A1-BAC9-EA75-8468B43DDC8A}"/>
              </a:ext>
            </a:extLst>
          </p:cNvPr>
          <p:cNvSpPr txBox="1"/>
          <p:nvPr/>
        </p:nvSpPr>
        <p:spPr>
          <a:xfrm>
            <a:off x="2001727" y="3598141"/>
            <a:ext cx="6496577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Subscription: 35% – Primary revenue driver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Product Sales: 33% – Significant contribution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Licensing: 32% – Stable secondary source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9AF50B4F-9073-6C0B-615C-7070D4FC157F}"/>
              </a:ext>
            </a:extLst>
          </p:cNvPr>
          <p:cNvSpPr/>
          <p:nvPr/>
        </p:nvSpPr>
        <p:spPr>
          <a:xfrm>
            <a:off x="2001727" y="3386391"/>
            <a:ext cx="4551472" cy="1297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6777132-F492-9DF9-A849-81B16F421E75}"/>
              </a:ext>
            </a:extLst>
          </p:cNvPr>
          <p:cNvSpPr txBox="1"/>
          <p:nvPr/>
        </p:nvSpPr>
        <p:spPr>
          <a:xfrm>
            <a:off x="2001728" y="5277844"/>
            <a:ext cx="476951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593C8F"/>
                </a:solidFill>
              </a:rPr>
              <a:t>Expense Distribution</a:t>
            </a:r>
            <a:endParaRPr lang="en-US" sz="4000" dirty="0">
              <a:solidFill>
                <a:srgbClr val="593C8F"/>
              </a:solidFill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79168F4-DC21-78CE-B769-12B4ECCAAF56}"/>
              </a:ext>
            </a:extLst>
          </p:cNvPr>
          <p:cNvSpPr txBox="1"/>
          <p:nvPr/>
        </p:nvSpPr>
        <p:spPr>
          <a:xfrm>
            <a:off x="2001727" y="2644552"/>
            <a:ext cx="476951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593C8F"/>
                </a:solidFill>
              </a:rPr>
              <a:t>Revenue Distribution</a:t>
            </a:r>
            <a:endParaRPr lang="en-US" sz="4000" dirty="0">
              <a:solidFill>
                <a:srgbClr val="593C8F"/>
              </a:solidFill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1A32433B-3F03-D4B9-2212-41858A465BC5}"/>
              </a:ext>
            </a:extLst>
          </p:cNvPr>
          <p:cNvSpPr txBox="1"/>
          <p:nvPr/>
        </p:nvSpPr>
        <p:spPr>
          <a:xfrm>
            <a:off x="2001727" y="6253437"/>
            <a:ext cx="6380273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Utilities: 34% – Highest operational cost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Office Supplies: 33%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Rent: 33%</a:t>
            </a:r>
          </a:p>
        </p:txBody>
      </p:sp>
      <p:sp>
        <p:nvSpPr>
          <p:cNvPr id="24" name="AutoShape 16">
            <a:extLst>
              <a:ext uri="{FF2B5EF4-FFF2-40B4-BE49-F238E27FC236}">
                <a16:creationId xmlns:a16="http://schemas.microsoft.com/office/drawing/2014/main" id="{97DB1593-109B-B9F5-18B2-9ED9E1180538}"/>
              </a:ext>
            </a:extLst>
          </p:cNvPr>
          <p:cNvSpPr/>
          <p:nvPr/>
        </p:nvSpPr>
        <p:spPr>
          <a:xfrm>
            <a:off x="2001727" y="6057900"/>
            <a:ext cx="45514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EB68AB6B-5C64-E505-2FD7-3A362F9EF7C6}"/>
              </a:ext>
            </a:extLst>
          </p:cNvPr>
          <p:cNvSpPr txBox="1"/>
          <p:nvPr/>
        </p:nvSpPr>
        <p:spPr>
          <a:xfrm>
            <a:off x="2001727" y="7796087"/>
            <a:ext cx="476951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593C8F"/>
                </a:solidFill>
              </a:rPr>
              <a:t>Monthly Profit Trend</a:t>
            </a:r>
            <a:endParaRPr lang="en-US" sz="4000" dirty="0">
              <a:solidFill>
                <a:srgbClr val="593C8F"/>
              </a:solidFill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CECF2B3D-D0A8-1A63-4E88-5D30E71D67C4}"/>
              </a:ext>
            </a:extLst>
          </p:cNvPr>
          <p:cNvSpPr txBox="1"/>
          <p:nvPr/>
        </p:nvSpPr>
        <p:spPr>
          <a:xfrm>
            <a:off x="2001727" y="8771680"/>
            <a:ext cx="889487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Profit starts high at the beginning of the year (~150K)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Gradual decline observed toward year-end (~89K)</a:t>
            </a:r>
          </a:p>
        </p:txBody>
      </p:sp>
      <p:sp>
        <p:nvSpPr>
          <p:cNvPr id="10" name="AutoShape 16">
            <a:extLst>
              <a:ext uri="{FF2B5EF4-FFF2-40B4-BE49-F238E27FC236}">
                <a16:creationId xmlns:a16="http://schemas.microsoft.com/office/drawing/2014/main" id="{BDA902F7-656D-4BB9-D610-A297D9F59C25}"/>
              </a:ext>
            </a:extLst>
          </p:cNvPr>
          <p:cNvSpPr/>
          <p:nvPr/>
        </p:nvSpPr>
        <p:spPr>
          <a:xfrm>
            <a:off x="2001728" y="8572500"/>
            <a:ext cx="45514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355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00DF-7DD9-E05E-1BD7-BA0C7782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9D92F0-4F12-F9F1-1861-E409A36493A0}"/>
              </a:ext>
            </a:extLst>
          </p:cNvPr>
          <p:cNvSpPr/>
          <p:nvPr/>
        </p:nvSpPr>
        <p:spPr>
          <a:xfrm>
            <a:off x="0" y="1002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9F82235-21FB-2AAE-6257-2531C17BE390}"/>
              </a:ext>
            </a:extLst>
          </p:cNvPr>
          <p:cNvGrpSpPr/>
          <p:nvPr/>
        </p:nvGrpSpPr>
        <p:grpSpPr>
          <a:xfrm>
            <a:off x="0" y="10027"/>
            <a:ext cx="18288000" cy="201495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9F65F7-F408-FB08-6993-2AFA7287D109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85D57E1-032F-75B9-F213-98986FC761A4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85633BC4-DD86-24D2-7F1C-F5ACA920A046}"/>
              </a:ext>
            </a:extLst>
          </p:cNvPr>
          <p:cNvSpPr txBox="1"/>
          <p:nvPr/>
        </p:nvSpPr>
        <p:spPr>
          <a:xfrm>
            <a:off x="3058263" y="648170"/>
            <a:ext cx="1217147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Key Insights &amp; Business Recommendations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B321893-90D5-9F3F-77BC-B9A1C733280B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701E6E-0CBB-ABAB-DA66-4C5C248B3438}"/>
              </a:ext>
            </a:extLst>
          </p:cNvPr>
          <p:cNvSpPr txBox="1"/>
          <p:nvPr/>
        </p:nvSpPr>
        <p:spPr>
          <a:xfrm>
            <a:off x="2001727" y="3598141"/>
            <a:ext cx="10418873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business is profitable but shows a declining profit trend across months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Revenue sources are balanced, reducing business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Utilities and operational costs are major expense drivers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Operations department shows the highest financial activity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F237128-3F47-649A-C844-E8C2E1A86267}"/>
              </a:ext>
            </a:extLst>
          </p:cNvPr>
          <p:cNvSpPr/>
          <p:nvPr/>
        </p:nvSpPr>
        <p:spPr>
          <a:xfrm>
            <a:off x="2001727" y="3386391"/>
            <a:ext cx="5923072" cy="345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87D7BBF-9FCB-E813-7A97-4719B2CEDB99}"/>
              </a:ext>
            </a:extLst>
          </p:cNvPr>
          <p:cNvSpPr txBox="1"/>
          <p:nvPr/>
        </p:nvSpPr>
        <p:spPr>
          <a:xfrm>
            <a:off x="2001728" y="5277844"/>
            <a:ext cx="655319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593C8F"/>
                </a:solidFill>
              </a:rPr>
              <a:t>Business Recommendations</a:t>
            </a:r>
            <a:endParaRPr lang="en-US" sz="4000" dirty="0">
              <a:solidFill>
                <a:srgbClr val="593C8F"/>
              </a:solidFill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7BF32FB-4FD7-BFEF-A32D-16B75076AFBE}"/>
              </a:ext>
            </a:extLst>
          </p:cNvPr>
          <p:cNvSpPr txBox="1"/>
          <p:nvPr/>
        </p:nvSpPr>
        <p:spPr>
          <a:xfrm>
            <a:off x="2001727" y="2644552"/>
            <a:ext cx="476951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593C8F"/>
                </a:solidFill>
              </a:rPr>
              <a:t>Key Insights</a:t>
            </a:r>
            <a:endParaRPr lang="en-US" sz="4000" dirty="0">
              <a:solidFill>
                <a:srgbClr val="593C8F"/>
              </a:solidFill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2E01C663-FE06-F277-C429-E020B9E5D0E9}"/>
              </a:ext>
            </a:extLst>
          </p:cNvPr>
          <p:cNvSpPr txBox="1"/>
          <p:nvPr/>
        </p:nvSpPr>
        <p:spPr>
          <a:xfrm>
            <a:off x="2001727" y="6253437"/>
            <a:ext cx="11638073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Monitor and optimize utility and operational expenses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Investigate factors causing profit decline (seasonality, rising costs, reduced sales)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Focus on strengthening high-performing revenue streams like subscriptions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the dashboard for regular financial performance tracking and strategic planning</a:t>
            </a:r>
          </a:p>
        </p:txBody>
      </p:sp>
      <p:sp>
        <p:nvSpPr>
          <p:cNvPr id="24" name="AutoShape 16">
            <a:extLst>
              <a:ext uri="{FF2B5EF4-FFF2-40B4-BE49-F238E27FC236}">
                <a16:creationId xmlns:a16="http://schemas.microsoft.com/office/drawing/2014/main" id="{82F69DAF-2323-181F-F98D-891741D12EC6}"/>
              </a:ext>
            </a:extLst>
          </p:cNvPr>
          <p:cNvSpPr/>
          <p:nvPr/>
        </p:nvSpPr>
        <p:spPr>
          <a:xfrm flipV="1">
            <a:off x="2001726" y="6044923"/>
            <a:ext cx="5923073" cy="1297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4BD0378E-2F1D-627A-82B9-DDF759C8806E}"/>
              </a:ext>
            </a:extLst>
          </p:cNvPr>
          <p:cNvSpPr txBox="1"/>
          <p:nvPr/>
        </p:nvSpPr>
        <p:spPr>
          <a:xfrm>
            <a:off x="2001727" y="7796087"/>
            <a:ext cx="476951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593C8F"/>
                </a:solidFill>
              </a:rPr>
              <a:t>Conclusion</a:t>
            </a:r>
            <a:br>
              <a:rPr lang="en-US" sz="4000" dirty="0">
                <a:solidFill>
                  <a:srgbClr val="593C8F"/>
                </a:solidFill>
              </a:rPr>
            </a:br>
            <a:endParaRPr lang="en-US" sz="4000" dirty="0">
              <a:solidFill>
                <a:srgbClr val="593C8F"/>
              </a:solidFill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6B35473B-99CE-CF07-19EA-D6E2AB005553}"/>
              </a:ext>
            </a:extLst>
          </p:cNvPr>
          <p:cNvSpPr txBox="1"/>
          <p:nvPr/>
        </p:nvSpPr>
        <p:spPr>
          <a:xfrm>
            <a:off x="2001727" y="8771680"/>
            <a:ext cx="1087607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This interactive Excel dashboard enables quick financial insights, improves transparency, and supports data-driven business decisions.</a:t>
            </a:r>
          </a:p>
        </p:txBody>
      </p:sp>
      <p:sp>
        <p:nvSpPr>
          <p:cNvPr id="10" name="AutoShape 16">
            <a:extLst>
              <a:ext uri="{FF2B5EF4-FFF2-40B4-BE49-F238E27FC236}">
                <a16:creationId xmlns:a16="http://schemas.microsoft.com/office/drawing/2014/main" id="{61E25E9A-7ECE-C5DB-0DD9-51003900B55B}"/>
              </a:ext>
            </a:extLst>
          </p:cNvPr>
          <p:cNvSpPr/>
          <p:nvPr/>
        </p:nvSpPr>
        <p:spPr>
          <a:xfrm>
            <a:off x="2001728" y="8572500"/>
            <a:ext cx="45514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9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356</Words>
  <Application>Microsoft Office PowerPoint</Application>
  <PresentationFormat>Custom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League Spartan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&amp;  white business profile presentation</dc:title>
  <cp:lastModifiedBy>Snehal Budale</cp:lastModifiedBy>
  <cp:revision>2</cp:revision>
  <dcterms:created xsi:type="dcterms:W3CDTF">2006-08-16T00:00:00Z</dcterms:created>
  <dcterms:modified xsi:type="dcterms:W3CDTF">2026-02-25T09:40:49Z</dcterms:modified>
  <dc:identifier>DAHCUESlQOk</dc:identifier>
</cp:coreProperties>
</file>